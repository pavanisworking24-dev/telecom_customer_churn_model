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22"/>
  </p:notesMasterIdLst>
  <p:sldIdLst>
    <p:sldId id="256" r:id="rId2"/>
    <p:sldId id="257" r:id="rId3"/>
    <p:sldId id="297" r:id="rId4"/>
    <p:sldId id="298" r:id="rId5"/>
    <p:sldId id="299" r:id="rId6"/>
    <p:sldId id="300" r:id="rId7"/>
    <p:sldId id="314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</p:sldIdLst>
  <p:sldSz cx="9144000" cy="5143500" type="screen16x9"/>
  <p:notesSz cx="6858000" cy="9144000"/>
  <p:embeddedFontLst>
    <p:embeddedFont>
      <p:font typeface="Livvic Light" pitchFamily="2" charset="0"/>
      <p:regular r:id="rId23"/>
      <p:italic r:id="rId24"/>
    </p:embeddedFont>
    <p:embeddedFont>
      <p:font typeface="Maven Pro" panose="020B0604020202020204" charset="0"/>
      <p:regular r:id="rId25"/>
      <p:bold r:id="rId26"/>
    </p:embeddedFont>
    <p:embeddedFont>
      <p:font typeface="Nunito Light" pitchFamily="2" charset="0"/>
      <p:regular r:id="rId27"/>
      <p:italic r:id="rId28"/>
    </p:embeddedFont>
    <p:embeddedFont>
      <p:font typeface="Share Tech" panose="020B0604020202020204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7F9B35-DAFD-4B48-8EC2-663C44324156}">
  <a:tblStyle styleId="{9D7F9B35-DAFD-4B48-8EC2-663C443241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7" d="100"/>
          <a:sy n="97" d="100"/>
        </p:scale>
        <p:origin x="885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6c60e245bf_1_318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6c60e245bf_1_318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060456" y="1158638"/>
            <a:ext cx="121198" cy="121434"/>
          </a:xfrm>
          <a:custGeom>
            <a:avLst/>
            <a:gdLst/>
            <a:ahLst/>
            <a:cxnLst/>
            <a:rect l="l" t="t" r="r" b="b"/>
            <a:pathLst>
              <a:path w="4625" h="4634" extrusionOk="0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9740" y="916059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257933" y="2452405"/>
            <a:ext cx="57599" cy="57599"/>
          </a:xfrm>
          <a:custGeom>
            <a:avLst/>
            <a:gdLst/>
            <a:ahLst/>
            <a:cxnLst/>
            <a:rect l="l" t="t" r="r" b="b"/>
            <a:pathLst>
              <a:path w="2198" h="2198" fill="none" extrusionOk="0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10023" y="4821495"/>
            <a:ext cx="98059" cy="98295"/>
          </a:xfrm>
          <a:custGeom>
            <a:avLst/>
            <a:gdLst/>
            <a:ahLst/>
            <a:cxnLst/>
            <a:rect l="l" t="t" r="r" b="b"/>
            <a:pathLst>
              <a:path w="3742" h="3751" fill="none" extrusionOk="0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5669" y="155705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263673" y="295368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8" name="Google Shape;18;p2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8485996" y="161463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23" name="Google Shape;23;p2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1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26" name="Google Shape;26;p2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29" name="Google Shape;29;p2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46863" y="21446"/>
            <a:ext cx="8464" cy="1689069"/>
          </a:xfrm>
          <a:custGeom>
            <a:avLst/>
            <a:gdLst/>
            <a:ahLst/>
            <a:cxnLst/>
            <a:rect l="l" t="t" r="r" b="b"/>
            <a:pathLst>
              <a:path w="323" h="64456" extrusionOk="0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2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36" name="Google Shape;36;p2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2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1" name="Google Shape;17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2" name="Google Shape;17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CUSTOM_4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"/>
          <p:cNvSpPr txBox="1">
            <a:spLocks noGrp="1"/>
          </p:cNvSpPr>
          <p:nvPr>
            <p:ph type="body" idx="1"/>
          </p:nvPr>
        </p:nvSpPr>
        <p:spPr>
          <a:xfrm>
            <a:off x="597375" y="1063525"/>
            <a:ext cx="3908700" cy="37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vvic Light"/>
              <a:buChar char="●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SzPts val="10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12" name="Google Shape;412;p20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413" name="Google Shape;413;p20"/>
          <p:cNvSpPr txBox="1">
            <a:spLocks noGrp="1"/>
          </p:cNvSpPr>
          <p:nvPr>
            <p:ph type="body" idx="2"/>
          </p:nvPr>
        </p:nvSpPr>
        <p:spPr>
          <a:xfrm>
            <a:off x="4690125" y="1063525"/>
            <a:ext cx="3908700" cy="37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5D37"/>
              </a:buClr>
              <a:buSzPts val="1000"/>
              <a:buFont typeface="Livvic Light"/>
              <a:buChar char="●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○"/>
              <a:defRPr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■"/>
              <a:defRPr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●"/>
              <a:defRPr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●"/>
              <a:defRPr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8829925" y="1123700"/>
            <a:ext cx="108650" cy="108625"/>
          </a:xfrm>
          <a:custGeom>
            <a:avLst/>
            <a:gdLst/>
            <a:ahLst/>
            <a:cxnLst/>
            <a:rect l="l" t="t" r="r" b="b"/>
            <a:pathLst>
              <a:path w="4346" h="4345" extrusionOk="0">
                <a:moveTo>
                  <a:pt x="4027" y="337"/>
                </a:moveTo>
                <a:lnTo>
                  <a:pt x="4027" y="4008"/>
                </a:lnTo>
                <a:lnTo>
                  <a:pt x="338" y="4008"/>
                </a:lnTo>
                <a:lnTo>
                  <a:pt x="338" y="337"/>
                </a:lnTo>
                <a:close/>
                <a:moveTo>
                  <a:pt x="1" y="0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9156250" y="1340450"/>
            <a:ext cx="111450" cy="110975"/>
          </a:xfrm>
          <a:custGeom>
            <a:avLst/>
            <a:gdLst/>
            <a:ahLst/>
            <a:cxnLst/>
            <a:rect l="l" t="t" r="r" b="b"/>
            <a:pathLst>
              <a:path w="4458" h="4439" extrusionOk="0">
                <a:moveTo>
                  <a:pt x="4008" y="431"/>
                </a:moveTo>
                <a:lnTo>
                  <a:pt x="4008" y="4008"/>
                </a:lnTo>
                <a:lnTo>
                  <a:pt x="431" y="4008"/>
                </a:lnTo>
                <a:lnTo>
                  <a:pt x="431" y="431"/>
                </a:lnTo>
                <a:close/>
                <a:moveTo>
                  <a:pt x="0" y="1"/>
                </a:moveTo>
                <a:lnTo>
                  <a:pt x="0" y="4439"/>
                </a:lnTo>
                <a:lnTo>
                  <a:pt x="4457" y="4439"/>
                </a:lnTo>
                <a:lnTo>
                  <a:pt x="445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5809850" y="214400"/>
            <a:ext cx="108625" cy="108625"/>
          </a:xfrm>
          <a:custGeom>
            <a:avLst/>
            <a:gdLst/>
            <a:ahLst/>
            <a:cxnLst/>
            <a:rect l="l" t="t" r="r" b="b"/>
            <a:pathLst>
              <a:path w="4345" h="4345" extrusionOk="0">
                <a:moveTo>
                  <a:pt x="4008" y="337"/>
                </a:moveTo>
                <a:lnTo>
                  <a:pt x="4008" y="4008"/>
                </a:lnTo>
                <a:lnTo>
                  <a:pt x="337" y="4008"/>
                </a:lnTo>
                <a:lnTo>
                  <a:pt x="337" y="337"/>
                </a:lnTo>
                <a:close/>
                <a:moveTo>
                  <a:pt x="0" y="0"/>
                </a:moveTo>
                <a:lnTo>
                  <a:pt x="0" y="4345"/>
                </a:lnTo>
                <a:lnTo>
                  <a:pt x="4345" y="4345"/>
                </a:lnTo>
                <a:lnTo>
                  <a:pt x="434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0"/>
          <p:cNvSpPr/>
          <p:nvPr/>
        </p:nvSpPr>
        <p:spPr>
          <a:xfrm>
            <a:off x="7079800" y="420088"/>
            <a:ext cx="164825" cy="164375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7952700" y="278513"/>
            <a:ext cx="44975" cy="44500"/>
          </a:xfrm>
          <a:custGeom>
            <a:avLst/>
            <a:gdLst/>
            <a:ahLst/>
            <a:cxnLst/>
            <a:rect l="l" t="t" r="r" b="b"/>
            <a:pathLst>
              <a:path w="1799" h="1780" extrusionOk="0">
                <a:moveTo>
                  <a:pt x="1" y="1"/>
                </a:moveTo>
                <a:lnTo>
                  <a:pt x="1" y="1780"/>
                </a:lnTo>
                <a:lnTo>
                  <a:pt x="1798" y="1780"/>
                </a:lnTo>
                <a:lnTo>
                  <a:pt x="179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0"/>
          <p:cNvSpPr/>
          <p:nvPr/>
        </p:nvSpPr>
        <p:spPr>
          <a:xfrm>
            <a:off x="7372450" y="-69325"/>
            <a:ext cx="155925" cy="155925"/>
          </a:xfrm>
          <a:custGeom>
            <a:avLst/>
            <a:gdLst/>
            <a:ahLst/>
            <a:cxnLst/>
            <a:rect l="l" t="t" r="r" b="b"/>
            <a:pathLst>
              <a:path w="6237" h="6237" extrusionOk="0">
                <a:moveTo>
                  <a:pt x="0" y="0"/>
                </a:moveTo>
                <a:lnTo>
                  <a:pt x="0" y="6236"/>
                </a:lnTo>
                <a:lnTo>
                  <a:pt x="6236" y="6236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8464275" y="355050"/>
            <a:ext cx="155925" cy="156400"/>
          </a:xfrm>
          <a:custGeom>
            <a:avLst/>
            <a:gdLst/>
            <a:ahLst/>
            <a:cxnLst/>
            <a:rect l="l" t="t" r="r" b="b"/>
            <a:pathLst>
              <a:path w="6237" h="6256" extrusionOk="0">
                <a:moveTo>
                  <a:pt x="1" y="1"/>
                </a:moveTo>
                <a:lnTo>
                  <a:pt x="1" y="6256"/>
                </a:lnTo>
                <a:lnTo>
                  <a:pt x="6237" y="6256"/>
                </a:lnTo>
                <a:lnTo>
                  <a:pt x="623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7264275" y="607363"/>
            <a:ext cx="122675" cy="122675"/>
          </a:xfrm>
          <a:custGeom>
            <a:avLst/>
            <a:gdLst/>
            <a:ahLst/>
            <a:cxnLst/>
            <a:rect l="l" t="t" r="r" b="b"/>
            <a:pathLst>
              <a:path w="4907" h="4907" extrusionOk="0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6298850" y="907625"/>
            <a:ext cx="155925" cy="155900"/>
          </a:xfrm>
          <a:custGeom>
            <a:avLst/>
            <a:gdLst/>
            <a:ahLst/>
            <a:cxnLst/>
            <a:rect l="l" t="t" r="r" b="b"/>
            <a:pathLst>
              <a:path w="6237" h="6236" extrusionOk="0">
                <a:moveTo>
                  <a:pt x="1" y="0"/>
                </a:moveTo>
                <a:lnTo>
                  <a:pt x="1" y="6236"/>
                </a:lnTo>
                <a:lnTo>
                  <a:pt x="6237" y="6236"/>
                </a:lnTo>
                <a:lnTo>
                  <a:pt x="62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-83000" y="4540463"/>
            <a:ext cx="164825" cy="164375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0"/>
          <p:cNvSpPr/>
          <p:nvPr/>
        </p:nvSpPr>
        <p:spPr>
          <a:xfrm>
            <a:off x="101475" y="4727738"/>
            <a:ext cx="122675" cy="122675"/>
          </a:xfrm>
          <a:custGeom>
            <a:avLst/>
            <a:gdLst/>
            <a:ahLst/>
            <a:cxnLst/>
            <a:rect l="l" t="t" r="r" b="b"/>
            <a:pathLst>
              <a:path w="4907" h="4907" extrusionOk="0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66" r:id="rId3"/>
    <p:sldLayoutId id="2147483667" r:id="rId4"/>
    <p:sldLayoutId id="214748366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5"/>
          <p:cNvSpPr txBox="1">
            <a:spLocks noGrp="1"/>
          </p:cNvSpPr>
          <p:nvPr>
            <p:ph type="subTitle" idx="1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End-to-End Machine Learning Pipeline</a:t>
            </a:r>
            <a:endParaRPr dirty="0"/>
          </a:p>
        </p:txBody>
      </p:sp>
      <p:sp>
        <p:nvSpPr>
          <p:cNvPr id="436" name="Google Shape;436;p25"/>
          <p:cNvSpPr txBox="1">
            <a:spLocks noGrp="1"/>
          </p:cNvSpPr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Telecom Customer Churn Prediction</a:t>
            </a:r>
            <a:endParaRPr dirty="0"/>
          </a:p>
        </p:txBody>
      </p:sp>
      <p:sp>
        <p:nvSpPr>
          <p:cNvPr id="437" name="Google Shape;437;p25"/>
          <p:cNvSpPr/>
          <p:nvPr/>
        </p:nvSpPr>
        <p:spPr>
          <a:xfrm>
            <a:off x="1917281" y="4715495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5"/>
          <p:cNvSpPr/>
          <p:nvPr/>
        </p:nvSpPr>
        <p:spPr>
          <a:xfrm>
            <a:off x="7047944" y="3537816"/>
            <a:ext cx="57834" cy="57834"/>
          </a:xfrm>
          <a:custGeom>
            <a:avLst/>
            <a:gdLst/>
            <a:ahLst/>
            <a:cxnLst/>
            <a:rect l="l" t="t" r="r" b="b"/>
            <a:pathLst>
              <a:path w="2207" h="2207" fill="none" extrusionOk="0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5"/>
          <p:cNvSpPr/>
          <p:nvPr/>
        </p:nvSpPr>
        <p:spPr>
          <a:xfrm>
            <a:off x="2307882" y="3002386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fill="none" extrusionOk="0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5"/>
          <p:cNvSpPr/>
          <p:nvPr/>
        </p:nvSpPr>
        <p:spPr>
          <a:xfrm>
            <a:off x="6293004" y="835609"/>
            <a:ext cx="80476" cy="80476"/>
          </a:xfrm>
          <a:custGeom>
            <a:avLst/>
            <a:gdLst/>
            <a:ahLst/>
            <a:cxnLst/>
            <a:rect l="l" t="t" r="r" b="b"/>
            <a:pathLst>
              <a:path w="3071" h="3071" extrusionOk="0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5"/>
          <p:cNvSpPr/>
          <p:nvPr/>
        </p:nvSpPr>
        <p:spPr>
          <a:xfrm>
            <a:off x="5969504" y="3118803"/>
            <a:ext cx="119993" cy="119966"/>
          </a:xfrm>
          <a:custGeom>
            <a:avLst/>
            <a:gdLst/>
            <a:ahLst/>
            <a:cxnLst/>
            <a:rect l="l" t="t" r="r" b="b"/>
            <a:pathLst>
              <a:path w="4579" h="4578" extrusionOk="0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5"/>
          <p:cNvSpPr/>
          <p:nvPr/>
        </p:nvSpPr>
        <p:spPr>
          <a:xfrm>
            <a:off x="2924242" y="4302208"/>
            <a:ext cx="119993" cy="119993"/>
          </a:xfrm>
          <a:custGeom>
            <a:avLst/>
            <a:gdLst/>
            <a:ahLst/>
            <a:cxnLst/>
            <a:rect l="l" t="t" r="r" b="b"/>
            <a:pathLst>
              <a:path w="4579" h="4579" extrusionOk="0">
                <a:moveTo>
                  <a:pt x="0" y="1"/>
                </a:moveTo>
                <a:lnTo>
                  <a:pt x="0" y="4578"/>
                </a:lnTo>
                <a:lnTo>
                  <a:pt x="4578" y="4578"/>
                </a:lnTo>
                <a:lnTo>
                  <a:pt x="457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3" name="Google Shape;443;p25"/>
          <p:cNvGrpSpPr/>
          <p:nvPr/>
        </p:nvGrpSpPr>
        <p:grpSpPr>
          <a:xfrm>
            <a:off x="6232314" y="3696331"/>
            <a:ext cx="121434" cy="1073147"/>
            <a:chOff x="6232314" y="3696331"/>
            <a:chExt cx="121434" cy="1073147"/>
          </a:xfrm>
        </p:grpSpPr>
        <p:sp>
          <p:nvSpPr>
            <p:cNvPr id="444" name="Google Shape;444;p25"/>
            <p:cNvSpPr/>
            <p:nvPr/>
          </p:nvSpPr>
          <p:spPr>
            <a:xfrm>
              <a:off x="6232314" y="4648280"/>
              <a:ext cx="121434" cy="121198"/>
            </a:xfrm>
            <a:custGeom>
              <a:avLst/>
              <a:gdLst/>
              <a:ahLst/>
              <a:cxnLst/>
              <a:rect l="l" t="t" r="r" b="b"/>
              <a:pathLst>
                <a:path w="463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33" y="4624"/>
                  </a:lnTo>
                  <a:lnTo>
                    <a:pt x="46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5"/>
            <p:cNvSpPr/>
            <p:nvPr/>
          </p:nvSpPr>
          <p:spPr>
            <a:xfrm>
              <a:off x="6288681" y="3696331"/>
              <a:ext cx="8700" cy="872731"/>
            </a:xfrm>
            <a:custGeom>
              <a:avLst/>
              <a:gdLst/>
              <a:ahLst/>
              <a:cxnLst/>
              <a:rect l="l" t="t" r="r" b="b"/>
              <a:pathLst>
                <a:path w="332" h="33304" extrusionOk="0">
                  <a:moveTo>
                    <a:pt x="166" y="0"/>
                  </a:moveTo>
                  <a:lnTo>
                    <a:pt x="0" y="33304"/>
                  </a:lnTo>
                  <a:lnTo>
                    <a:pt x="331" y="33304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5"/>
          <p:cNvGrpSpPr/>
          <p:nvPr/>
        </p:nvGrpSpPr>
        <p:grpSpPr>
          <a:xfrm>
            <a:off x="6780548" y="337714"/>
            <a:ext cx="133252" cy="1952377"/>
            <a:chOff x="6780548" y="337714"/>
            <a:chExt cx="133252" cy="1952377"/>
          </a:xfrm>
        </p:grpSpPr>
        <p:sp>
          <p:nvSpPr>
            <p:cNvPr id="447" name="Google Shape;447;p25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5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9" name="Google Shape;449;p25"/>
          <p:cNvGrpSpPr/>
          <p:nvPr/>
        </p:nvGrpSpPr>
        <p:grpSpPr>
          <a:xfrm>
            <a:off x="1608717" y="1280046"/>
            <a:ext cx="199237" cy="2828935"/>
            <a:chOff x="1608717" y="1280046"/>
            <a:chExt cx="199237" cy="2828935"/>
          </a:xfrm>
        </p:grpSpPr>
        <p:sp>
          <p:nvSpPr>
            <p:cNvPr id="450" name="Google Shape;450;p25"/>
            <p:cNvSpPr/>
            <p:nvPr/>
          </p:nvSpPr>
          <p:spPr>
            <a:xfrm>
              <a:off x="1608717" y="3909744"/>
              <a:ext cx="199237" cy="199237"/>
            </a:xfrm>
            <a:custGeom>
              <a:avLst/>
              <a:gdLst/>
              <a:ahLst/>
              <a:cxnLst/>
              <a:rect l="l" t="t" r="r" b="b"/>
              <a:pathLst>
                <a:path w="7603" h="7603" extrusionOk="0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5"/>
            <p:cNvSpPr/>
            <p:nvPr/>
          </p:nvSpPr>
          <p:spPr>
            <a:xfrm>
              <a:off x="1656175" y="3269477"/>
              <a:ext cx="104086" cy="104086"/>
            </a:xfrm>
            <a:custGeom>
              <a:avLst/>
              <a:gdLst/>
              <a:ahLst/>
              <a:cxnLst/>
              <a:rect l="l" t="t" r="r" b="b"/>
              <a:pathLst>
                <a:path w="3972" h="3972" extrusionOk="0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5"/>
            <p:cNvSpPr/>
            <p:nvPr/>
          </p:nvSpPr>
          <p:spPr>
            <a:xfrm>
              <a:off x="1704104" y="1280046"/>
              <a:ext cx="8464" cy="1794099"/>
            </a:xfrm>
            <a:custGeom>
              <a:avLst/>
              <a:gdLst/>
              <a:ahLst/>
              <a:cxnLst/>
              <a:rect l="l" t="t" r="r" b="b"/>
              <a:pathLst>
                <a:path w="323" h="68464" extrusionOk="0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3" name="Google Shape;453;p25"/>
          <p:cNvSpPr/>
          <p:nvPr/>
        </p:nvSpPr>
        <p:spPr>
          <a:xfrm>
            <a:off x="2355692" y="3696328"/>
            <a:ext cx="8464" cy="2519663"/>
          </a:xfrm>
          <a:custGeom>
            <a:avLst/>
            <a:gdLst/>
            <a:ahLst/>
            <a:cxnLst/>
            <a:rect l="l" t="t" r="r" b="b"/>
            <a:pathLst>
              <a:path w="323" h="96152" extrusionOk="0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5"/>
          <p:cNvSpPr/>
          <p:nvPr/>
        </p:nvSpPr>
        <p:spPr>
          <a:xfrm>
            <a:off x="7446601" y="3454956"/>
            <a:ext cx="8464" cy="1689096"/>
          </a:xfrm>
          <a:custGeom>
            <a:avLst/>
            <a:gdLst/>
            <a:ahLst/>
            <a:cxnLst/>
            <a:rect l="l" t="t" r="r" b="b"/>
            <a:pathLst>
              <a:path w="323" h="64457" extrusionOk="0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5" name="Google Shape;455;p25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456" name="Google Shape;456;p25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5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" name="Google Shape;458;p25"/>
          <p:cNvGrpSpPr/>
          <p:nvPr/>
        </p:nvGrpSpPr>
        <p:grpSpPr>
          <a:xfrm>
            <a:off x="4472500" y="3928605"/>
            <a:ext cx="199001" cy="867198"/>
            <a:chOff x="4475150" y="4052605"/>
            <a:chExt cx="199001" cy="867198"/>
          </a:xfrm>
        </p:grpSpPr>
        <p:sp>
          <p:nvSpPr>
            <p:cNvPr id="459" name="Google Shape;459;p25"/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5"/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5"/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6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Agenda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6C7008-8327-FDA6-7E6E-BD21E7FB6C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9252" y="2469452"/>
            <a:ext cx="49088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F957218-AC2E-E9BC-1759-61C5808F09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1616"/>
            <a:ext cx="9144000" cy="50402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5A61D4-5AD8-F48C-EF2D-B8B47CE2B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5100" indent="0">
              <a:buNone/>
            </a:pPr>
            <a:r>
              <a:rPr lang="en-US" b="1" dirty="0"/>
              <a:t>The Business Problem</a:t>
            </a:r>
          </a:p>
          <a:p>
            <a:r>
              <a:rPr lang="en-US" dirty="0"/>
              <a:t>Acquiring a new customer costs </a:t>
            </a:r>
            <a:r>
              <a:rPr lang="en-US" b="1" dirty="0"/>
              <a:t>5–7× more</a:t>
            </a:r>
            <a:r>
              <a:rPr lang="en-US" dirty="0"/>
              <a:t> than retaining an existing one</a:t>
            </a:r>
          </a:p>
          <a:p>
            <a:r>
              <a:rPr lang="en-US" dirty="0"/>
              <a:t>High churn directly impacts </a:t>
            </a:r>
            <a:r>
              <a:rPr lang="en-US" b="1" dirty="0"/>
              <a:t>revenue, profitability, and sustainability</a:t>
            </a:r>
            <a:endParaRPr lang="en-US" dirty="0"/>
          </a:p>
          <a:p>
            <a:r>
              <a:rPr lang="en-US" dirty="0"/>
              <a:t>Reactive strategies (post-churn discounts) are far costlier than proactive ones</a:t>
            </a:r>
          </a:p>
          <a:p>
            <a:pPr marL="1651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34286C-D644-CAC8-D778-F2A2830FA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825" y="411675"/>
            <a:ext cx="5994476" cy="577800"/>
          </a:xfrm>
        </p:spPr>
        <p:txBody>
          <a:bodyPr/>
          <a:lstStyle/>
          <a:p>
            <a:r>
              <a:rPr lang="en-IN" dirty="0"/>
              <a:t>Problem Statement &amp; Objective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B0ADB-C9AB-5D76-408A-5BFFFFD1E97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1980" y="1063526"/>
            <a:ext cx="3755684" cy="1672118"/>
          </a:xfrm>
        </p:spPr>
        <p:txBody>
          <a:bodyPr/>
          <a:lstStyle/>
          <a:p>
            <a:pPr marL="165100" indent="0">
              <a:buNone/>
            </a:pPr>
            <a:r>
              <a:rPr lang="en-US" b="1" dirty="0"/>
              <a:t>What We Built</a:t>
            </a:r>
          </a:p>
          <a:p>
            <a:r>
              <a:rPr lang="en-US" dirty="0"/>
              <a:t>A binary classification model that </a:t>
            </a:r>
            <a:r>
              <a:rPr lang="en-US" b="1" dirty="0"/>
              <a:t>predicts churn before it happens</a:t>
            </a:r>
            <a:r>
              <a:rPr lang="en-US" dirty="0"/>
              <a:t>, enabling targeted retention campaigns.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1E9CA9-0B56-4CD1-C1B0-1A1EB5FA9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352629"/>
              </p:ext>
            </p:extLst>
          </p:nvPr>
        </p:nvGraphicFramePr>
        <p:xfrm>
          <a:off x="1631028" y="2735644"/>
          <a:ext cx="6096000" cy="1820550"/>
        </p:xfrm>
        <a:graphic>
          <a:graphicData uri="http://schemas.openxmlformats.org/drawingml/2006/table">
            <a:tbl>
              <a:tblPr firstRow="1" bandRow="1">
                <a:tableStyleId>{9D7F9B35-DAFD-4B48-8EC2-663C44324156}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764220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9079839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37020810"/>
                    </a:ext>
                  </a:extLst>
                </a:gridCol>
              </a:tblGrid>
              <a:tr h="448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Why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77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1st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Recall</a:t>
                      </a:r>
                      <a:endParaRPr lang="en-IN" sz="12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Missing a churner = lost revenue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11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2nd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ROC-AUC</a:t>
                      </a:r>
                      <a:endParaRPr lang="en-IN" sz="12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Discriminative power across thresholds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107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3rd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F1 Score</a:t>
                      </a:r>
                      <a:endParaRPr lang="en-IN" sz="12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Balance of precision &amp; recall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314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879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8511A6-E7AC-D237-E9DE-41D6DAA81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374" y="1063525"/>
            <a:ext cx="5829183" cy="3786900"/>
          </a:xfrm>
        </p:spPr>
        <p:txBody>
          <a:bodyPr/>
          <a:lstStyle/>
          <a:p>
            <a:r>
              <a:rPr lang="en-US" dirty="0"/>
              <a:t>Records: 7,043 customers | Features: 21 columns | Target: Churn (Yes/No)</a:t>
            </a:r>
          </a:p>
          <a:p>
            <a:r>
              <a:rPr lang="en-US" dirty="0"/>
              <a:t>Class Split: No Churn = 5,174 (73.5%) | Churn = 1,869 (26.5%) ⚠️ Imbalanced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1ED38E-154D-7E72-6271-8665DB3D8D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89AD5-FEDE-5D7E-4623-7B295B7EC27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411791" y="767311"/>
            <a:ext cx="1264307" cy="3786900"/>
          </a:xfrm>
        </p:spPr>
        <p:txBody>
          <a:bodyPr/>
          <a:lstStyle/>
          <a:p>
            <a:pPr marL="165100" indent="0">
              <a:buNone/>
            </a:pPr>
            <a:r>
              <a:rPr lang="en-IN" dirty="0"/>
              <a:t>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3C72D35-D238-91F4-EF07-A0B928807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2014522"/>
            <a:ext cx="21031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7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kumimoji="0" lang="en-US" altLang="en-US" sz="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0DF856F-013F-CE6E-752D-067090055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874180"/>
              </p:ext>
            </p:extLst>
          </p:nvPr>
        </p:nvGraphicFramePr>
        <p:xfrm>
          <a:off x="1524000" y="2114549"/>
          <a:ext cx="6096000" cy="266192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2489110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683884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762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Demographics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gender, SeniorCitizen, Partner, Dependents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9728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PhoneService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MultipleLines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InternetService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OnlineSecurity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OnlineBackup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DeviceProtection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TechSupport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StreamingTV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StreamingMovies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98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Contract &amp; Billing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Contract, PaperlessBilling, PaymentMethod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2828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Numeric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tenure, </a:t>
                      </a:r>
                      <a:r>
                        <a:rPr lang="en-IN" sz="1200" dirty="0" err="1">
                          <a:solidFill>
                            <a:schemeClr val="bg1"/>
                          </a:solidFill>
                        </a:rPr>
                        <a:t>MonthlyCharges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IN" sz="1200" dirty="0" err="1">
                          <a:solidFill>
                            <a:schemeClr val="bg1"/>
                          </a:solidFill>
                        </a:rPr>
                        <a:t>TotalCharges</a:t>
                      </a:r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62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599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E4564E-3029-9026-7309-C0488BFA6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375" y="1063525"/>
            <a:ext cx="3908700" cy="394981"/>
          </a:xfrm>
        </p:spPr>
        <p:txBody>
          <a:bodyPr/>
          <a:lstStyle/>
          <a:p>
            <a:pPr marL="165100" indent="0">
              <a:buNone/>
            </a:pPr>
            <a:r>
              <a:rPr lang="en-IN" sz="1400" dirty="0"/>
              <a:t>Issues Found and Fixed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EECFEC-3294-5258-D0A6-B8D1839CE0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Cleaning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D4D90-69A6-BDE7-FFDB-9301CD562AA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7375" y="4222361"/>
            <a:ext cx="7708165" cy="876616"/>
          </a:xfrm>
        </p:spPr>
        <p:txBody>
          <a:bodyPr/>
          <a:lstStyle/>
          <a:p>
            <a:pPr marL="165100" indent="0">
              <a:buNone/>
            </a:pPr>
            <a:r>
              <a:rPr lang="en-US" sz="1400" b="1" dirty="0"/>
              <a:t>Imputation logic:</a:t>
            </a:r>
            <a:r>
              <a:rPr lang="en-US" sz="1400" dirty="0"/>
              <a:t> All 11 nulls had tenure = 0 → </a:t>
            </a:r>
            <a:r>
              <a:rPr lang="en-US" sz="1400" dirty="0" err="1"/>
              <a:t>TotalCharges</a:t>
            </a:r>
            <a:r>
              <a:rPr lang="en-US" sz="1400" dirty="0"/>
              <a:t> = $0 is the only business-correct choice. Median imputation would break the tenure–billing relationship.</a:t>
            </a:r>
            <a:endParaRPr lang="en-IN" sz="1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01CA82-8DCC-AA0C-9AA8-99FFA999D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636331"/>
              </p:ext>
            </p:extLst>
          </p:nvPr>
        </p:nvGraphicFramePr>
        <p:xfrm>
          <a:off x="1267060" y="1532556"/>
          <a:ext cx="6096000" cy="239776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35192445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4255609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Action Taken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351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/>
                        <a:t>TotalCharges</a:t>
                      </a:r>
                      <a:r>
                        <a:rPr lang="en-IN" sz="1200" dirty="0"/>
                        <a:t> stored as 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Converted to float64 via pd.to_numeric()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2877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 NaN values in TotalCharges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Set to </a:t>
                      </a:r>
                      <a:r>
                        <a:rPr lang="en-US" sz="1200" b="1"/>
                        <a:t>0</a:t>
                      </a:r>
                      <a:r>
                        <a:rPr lang="en-US" sz="1200"/>
                        <a:t> where tenure = 0 (new customers, never billed)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122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Duplicate 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 duplicates</a:t>
                      </a:r>
                      <a:r>
                        <a:rPr lang="en-IN" sz="1200"/>
                        <a:t> found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406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Outliers (IQR + Boxplot + Scatter)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No actionable outliers</a:t>
                      </a:r>
                      <a:r>
                        <a:rPr lang="en-US" sz="1200"/>
                        <a:t> — extreme values are valid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4759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customerID 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Dropped — identifier, not a feature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8929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570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2BEE6E-3FF3-B9FE-7800-2BC49CA13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8045" y="958751"/>
            <a:ext cx="2222616" cy="349639"/>
          </a:xfrm>
        </p:spPr>
        <p:txBody>
          <a:bodyPr/>
          <a:lstStyle/>
          <a:p>
            <a:pPr marL="165100" indent="0">
              <a:buNone/>
            </a:pPr>
            <a:r>
              <a:rPr lang="en-IN" sz="1400" dirty="0">
                <a:solidFill>
                  <a:schemeClr val="bg1"/>
                </a:solidFill>
              </a:rPr>
              <a:t>Numerical Insights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A77C0C-98C3-AA90-E329-118217A81F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9CB5B-DE79-3FBA-9267-16D674EAC8C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501516" y="929018"/>
            <a:ext cx="2931056" cy="470551"/>
          </a:xfrm>
        </p:spPr>
        <p:txBody>
          <a:bodyPr/>
          <a:lstStyle/>
          <a:p>
            <a:pPr marL="165100" indent="0">
              <a:buNone/>
            </a:pPr>
            <a:r>
              <a:rPr lang="en-IN" sz="1400" dirty="0">
                <a:solidFill>
                  <a:schemeClr val="bg1"/>
                </a:solidFill>
              </a:rPr>
              <a:t>Top Categorical Churn Drivers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129415-188A-0FA0-BF30-B0821D3CB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136257"/>
              </p:ext>
            </p:extLst>
          </p:nvPr>
        </p:nvGraphicFramePr>
        <p:xfrm>
          <a:off x="458459" y="1473614"/>
          <a:ext cx="3962400" cy="2841446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480591148"/>
                    </a:ext>
                  </a:extLst>
                </a:gridCol>
                <a:gridCol w="995513">
                  <a:extLst>
                    <a:ext uri="{9D8B030D-6E8A-4147-A177-3AD203B41FA5}">
                      <a16:colId xmlns:a16="http://schemas.microsoft.com/office/drawing/2014/main" val="391487535"/>
                    </a:ext>
                  </a:extLst>
                </a:gridCol>
                <a:gridCol w="985687">
                  <a:extLst>
                    <a:ext uri="{9D8B030D-6E8A-4147-A177-3AD203B41FA5}">
                      <a16:colId xmlns:a16="http://schemas.microsoft.com/office/drawing/2014/main" val="2924666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234679933"/>
                    </a:ext>
                  </a:extLst>
                </a:gridCol>
              </a:tblGrid>
              <a:tr h="620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1"/>
                          </a:solidFill>
                        </a:rPr>
                        <a:t>Churned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1"/>
                          </a:solidFill>
                        </a:rPr>
                        <a:t>Retained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1"/>
                          </a:solidFill>
                        </a:rPr>
                        <a:t>Insight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628504"/>
                  </a:ext>
                </a:extLst>
              </a:tr>
              <a:tr h="620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1"/>
                          </a:solidFill>
                        </a:rPr>
                        <a:t>Avg Tenure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solidFill>
                            <a:schemeClr val="bg1"/>
                          </a:solidFill>
                        </a:rPr>
                        <a:t>17.9 months</a:t>
                      </a:r>
                      <a:endParaRPr lang="en-IN" sz="11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1"/>
                          </a:solidFill>
                        </a:rPr>
                        <a:t>37.6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1"/>
                          </a:solidFill>
                        </a:rPr>
                        <a:t>Short tenure = high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1270073"/>
                  </a:ext>
                </a:extLst>
              </a:tr>
              <a:tr h="736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1"/>
                          </a:solidFill>
                        </a:rPr>
                        <a:t>Avg MonthlyCharges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chemeClr val="bg1"/>
                          </a:solidFill>
                        </a:rPr>
                        <a:t>$74.44</a:t>
                      </a:r>
                      <a:endParaRPr lang="en-IN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1"/>
                          </a:solidFill>
                        </a:rPr>
                        <a:t>$61.27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1"/>
                          </a:solidFill>
                        </a:rPr>
                        <a:t>Higher bills drive churn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4621639"/>
                  </a:ext>
                </a:extLst>
              </a:tr>
              <a:tr h="864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1"/>
                          </a:solidFill>
                        </a:rPr>
                        <a:t>Avg TotalCharges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chemeClr val="bg1"/>
                          </a:solidFill>
                        </a:rPr>
                        <a:t>$1,531</a:t>
                      </a:r>
                      <a:endParaRPr lang="en-IN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bg1"/>
                          </a:solidFill>
                        </a:rPr>
                        <a:t>$2,549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bg1"/>
                          </a:solidFill>
                        </a:rPr>
                        <a:t>Churners leave before </a:t>
                      </a:r>
                      <a:r>
                        <a:rPr lang="en-IN" sz="1100" dirty="0" err="1">
                          <a:solidFill>
                            <a:schemeClr val="bg1"/>
                          </a:solidFill>
                        </a:rPr>
                        <a:t>accumulatin</a:t>
                      </a:r>
                      <a:endParaRPr lang="en-IN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254040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B1F1A3-3879-CE0B-6DD6-B93FC4192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568007"/>
              </p:ext>
            </p:extLst>
          </p:nvPr>
        </p:nvGraphicFramePr>
        <p:xfrm>
          <a:off x="4985844" y="1473614"/>
          <a:ext cx="3962400" cy="2829973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363031174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83919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65918496"/>
                    </a:ext>
                  </a:extLst>
                </a:gridCol>
              </a:tblGrid>
              <a:tr h="438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High-Risk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Churn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1407013"/>
                  </a:ext>
                </a:extLst>
              </a:tr>
              <a:tr h="438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Contract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Month-to-month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42.7%</a:t>
                      </a:r>
                      <a:endParaRPr lang="en-IN" sz="12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919796"/>
                  </a:ext>
                </a:extLst>
              </a:tr>
              <a:tr h="438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PaymentMethod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Electronic check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45.3%</a:t>
                      </a:r>
                      <a:endParaRPr lang="en-IN" sz="12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7610865"/>
                  </a:ext>
                </a:extLst>
              </a:tr>
              <a:tr h="618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InternetService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Fiber optic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Highest among all types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3081737"/>
                  </a:ext>
                </a:extLst>
              </a:tr>
              <a:tr h="438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OnlineSecurity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Not subscribed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41.8%</a:t>
                      </a:r>
                      <a:endParaRPr lang="en-IN" sz="12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0019488"/>
                  </a:ext>
                </a:extLst>
              </a:tr>
              <a:tr h="438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TechSupport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Not subscribed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41.6%</a:t>
                      </a:r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803844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557DACB-B21B-E6AB-DD5D-F6CEEF5216C6}"/>
              </a:ext>
            </a:extLst>
          </p:cNvPr>
          <p:cNvSpPr txBox="1"/>
          <p:nvPr/>
        </p:nvSpPr>
        <p:spPr>
          <a:xfrm>
            <a:off x="626167" y="4419329"/>
            <a:ext cx="8146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Maven Pro" panose="020B0604020202020204" charset="0"/>
              </a:rPr>
              <a:t>High-Risk Profile (Identified via EDA)</a:t>
            </a:r>
          </a:p>
          <a:p>
            <a:r>
              <a:rPr lang="en-US" dirty="0">
                <a:solidFill>
                  <a:schemeClr val="bg1"/>
                </a:solidFill>
                <a:latin typeface="Maven Pro" panose="020B0604020202020204" charset="0"/>
              </a:rPr>
              <a:t>Month-to-month + Fiber optic + tenure &lt; 12 months + no </a:t>
            </a:r>
            <a:r>
              <a:rPr lang="en-US" dirty="0" err="1">
                <a:solidFill>
                  <a:schemeClr val="bg1"/>
                </a:solidFill>
                <a:latin typeface="Maven Pro" panose="020B0604020202020204" charset="0"/>
              </a:rPr>
              <a:t>OnlineSecurity</a:t>
            </a:r>
            <a:r>
              <a:rPr lang="en-US" dirty="0">
                <a:solidFill>
                  <a:schemeClr val="bg1"/>
                </a:solidFill>
                <a:latin typeface="Maven Pro" panose="020B0604020202020204" charset="0"/>
              </a:rPr>
              <a:t>/</a:t>
            </a:r>
            <a:r>
              <a:rPr lang="en-US" dirty="0" err="1">
                <a:solidFill>
                  <a:schemeClr val="bg1"/>
                </a:solidFill>
                <a:latin typeface="Maven Pro" panose="020B0604020202020204" charset="0"/>
              </a:rPr>
              <a:t>TechSupport</a:t>
            </a:r>
            <a:r>
              <a:rPr lang="en-US" dirty="0">
                <a:solidFill>
                  <a:schemeClr val="bg1"/>
                </a:solidFill>
                <a:latin typeface="Maven Pro" panose="020B0604020202020204" charset="0"/>
              </a:rPr>
              <a:t> → </a:t>
            </a:r>
            <a:r>
              <a:rPr lang="en-US" b="1" dirty="0">
                <a:solidFill>
                  <a:schemeClr val="bg1"/>
                </a:solidFill>
                <a:latin typeface="Maven Pro" panose="020B0604020202020204" charset="0"/>
              </a:rPr>
              <a:t>73.5% churn rate</a:t>
            </a:r>
            <a:endParaRPr lang="en-US" dirty="0">
              <a:solidFill>
                <a:schemeClr val="bg1"/>
              </a:solidFill>
              <a:latin typeface="Maven Pro" panose="020B0604020202020204" charset="0"/>
            </a:endParaRPr>
          </a:p>
          <a:p>
            <a:endParaRPr lang="en-IN" dirty="0">
              <a:solidFill>
                <a:schemeClr val="bg1"/>
              </a:solidFill>
              <a:latin typeface="Maven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03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2A2F51-6A1B-FB0F-2C06-17A837E71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5100" indent="0">
              <a:buNone/>
            </a:pPr>
            <a:r>
              <a:rPr lang="en-IN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015E5C-C16A-3818-FD97-DD3FAEE67F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9A352-8A13-DE3B-1B5D-2D07C62E765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6510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D15A9B-85A7-C067-48F0-EEF1541F4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25" y="293075"/>
            <a:ext cx="3319845" cy="43400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2D31B9-5482-EC2F-AD39-396972A15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478" y="293075"/>
            <a:ext cx="4745811" cy="434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504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2890A0-9BA1-15F2-9306-030F1A1C2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684" y="854699"/>
            <a:ext cx="3908700" cy="417652"/>
          </a:xfrm>
        </p:spPr>
        <p:txBody>
          <a:bodyPr/>
          <a:lstStyle/>
          <a:p>
            <a:pPr marL="165100" indent="0">
              <a:buNone/>
            </a:pPr>
            <a:r>
              <a:rPr lang="en-US" dirty="0"/>
              <a:t>21 Original Features → 60 Engineered Features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C375B1-5502-FE25-252F-9F2911E33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684" y="318853"/>
            <a:ext cx="4727700" cy="577800"/>
          </a:xfrm>
        </p:spPr>
        <p:txBody>
          <a:bodyPr/>
          <a:lstStyle/>
          <a:p>
            <a:r>
              <a:rPr lang="en-IN" dirty="0"/>
              <a:t>Feature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47F72-136B-ECDC-0C2C-68696AD309A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247187" y="1063525"/>
            <a:ext cx="1351638" cy="3786900"/>
          </a:xfrm>
        </p:spPr>
        <p:txBody>
          <a:bodyPr/>
          <a:lstStyle/>
          <a:p>
            <a:pPr marL="165100" indent="0">
              <a:buNone/>
            </a:pPr>
            <a:r>
              <a:rPr lang="en-IN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A40788-F852-1622-C397-BC5E4B058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722999"/>
              </p:ext>
            </p:extLst>
          </p:nvPr>
        </p:nvGraphicFramePr>
        <p:xfrm>
          <a:off x="269533" y="1407126"/>
          <a:ext cx="8436160" cy="325556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4218080">
                  <a:extLst>
                    <a:ext uri="{9D8B030D-6E8A-4147-A177-3AD203B41FA5}">
                      <a16:colId xmlns:a16="http://schemas.microsoft.com/office/drawing/2014/main" val="1181230097"/>
                    </a:ext>
                  </a:extLst>
                </a:gridCol>
                <a:gridCol w="4218080">
                  <a:extLst>
                    <a:ext uri="{9D8B030D-6E8A-4147-A177-3AD203B41FA5}">
                      <a16:colId xmlns:a16="http://schemas.microsoft.com/office/drawing/2014/main" val="1457358330"/>
                    </a:ext>
                  </a:extLst>
                </a:gridCol>
              </a:tblGrid>
              <a:tr h="425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Key Features Created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564086"/>
                  </a:ext>
                </a:extLst>
              </a:tr>
              <a:tr h="524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Tenure-Based</a:t>
                      </a:r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TenureGroup, IsFirstYear, IsVeryNew, IsLongTerm, IsContractEnd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062545"/>
                  </a:ext>
                </a:extLst>
              </a:tr>
              <a:tr h="524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Monetary</a:t>
                      </a:r>
                      <a:endParaRPr lang="en-IN" sz="12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>
                          <a:solidFill>
                            <a:schemeClr val="bg1"/>
                          </a:solidFill>
                        </a:rPr>
                        <a:t>AvgMonthlyCharge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IN" sz="1200" dirty="0" err="1">
                          <a:solidFill>
                            <a:schemeClr val="bg1"/>
                          </a:solidFill>
                        </a:rPr>
                        <a:t>CustomerLTV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IN" sz="1200" dirty="0" err="1">
                          <a:solidFill>
                            <a:schemeClr val="bg1"/>
                          </a:solidFill>
                        </a:rPr>
                        <a:t>MonthlytoTotalRatio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IN" sz="1200" dirty="0" err="1">
                          <a:solidFill>
                            <a:schemeClr val="bg1"/>
                          </a:solidFill>
                        </a:rPr>
                        <a:t>MonthlyChargeGroup</a:t>
                      </a:r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896360"/>
                  </a:ext>
                </a:extLst>
              </a:tr>
              <a:tr h="733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Service Usage</a:t>
                      </a:r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>
                          <a:solidFill>
                            <a:schemeClr val="bg1"/>
                          </a:solidFill>
                        </a:rPr>
                        <a:t>NumAdditionalServices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IN" sz="1200" dirty="0" err="1">
                          <a:solidFill>
                            <a:schemeClr val="bg1"/>
                          </a:solidFill>
                        </a:rPr>
                        <a:t>HasSecurityBundle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IN" sz="1200" dirty="0" err="1">
                          <a:solidFill>
                            <a:schemeClr val="bg1"/>
                          </a:solidFill>
                        </a:rPr>
                        <a:t>HasStreamingBundle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IN" sz="1200" dirty="0" err="1">
                          <a:solidFill>
                            <a:schemeClr val="bg1"/>
                          </a:solidFill>
                        </a:rPr>
                        <a:t>FiberOpticUser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IN" sz="1200" dirty="0" err="1">
                          <a:solidFill>
                            <a:schemeClr val="bg1"/>
                          </a:solidFill>
                        </a:rPr>
                        <a:t>ServicesPerMonth</a:t>
                      </a:r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6153922"/>
                  </a:ext>
                </a:extLst>
              </a:tr>
              <a:tr h="524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Contract &amp; Payment</a:t>
                      </a:r>
                      <a:endParaRPr lang="en-IN" sz="12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ContractType, IsMonthToMonth, PaymentRisk, ElectronicPayment, PaperlessHighRisk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7338408"/>
                  </a:ext>
                </a:extLst>
              </a:tr>
              <a:tr h="524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Risk &amp; Interaction</a:t>
                      </a:r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HighCostLowTenure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MonthToMonth_Fiber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EngagementScore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SimpleRiskScore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686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7549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6E3D6D-4168-067D-6D66-077299FEA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5100" indent="0">
              <a:buNone/>
            </a:pPr>
            <a:r>
              <a:rPr lang="en-IN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B14A71-9586-BEDB-BCBA-874368A51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365" y="157018"/>
            <a:ext cx="4727700" cy="577800"/>
          </a:xfrm>
        </p:spPr>
        <p:txBody>
          <a:bodyPr/>
          <a:lstStyle/>
          <a:p>
            <a:r>
              <a:rPr lang="en-IN" dirty="0"/>
              <a:t>ML Pipeline Architecture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89EA5-0233-8BC3-691D-40C751F50F0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6510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753AA93-E4AC-67AF-6D0C-C11F34E4CF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398" y="402011"/>
            <a:ext cx="9193454" cy="480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26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6F6C83-47DA-7476-C721-6D2BE6F31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375" y="1063525"/>
            <a:ext cx="7745580" cy="3786900"/>
          </a:xfrm>
        </p:spPr>
        <p:txBody>
          <a:bodyPr/>
          <a:lstStyle/>
          <a:p>
            <a:pPr marL="165100" indent="0">
              <a:buNone/>
            </a:pPr>
            <a:r>
              <a:rPr lang="en-IN" sz="1600" b="1" dirty="0"/>
              <a:t>Encoding</a:t>
            </a:r>
          </a:p>
          <a:p>
            <a:r>
              <a:rPr lang="en-IN" sz="1600" dirty="0" err="1"/>
              <a:t>pd.get_dummies</a:t>
            </a:r>
            <a:r>
              <a:rPr lang="en-IN" sz="1600" dirty="0"/>
              <a:t>(</a:t>
            </a:r>
            <a:r>
              <a:rPr lang="en-IN" sz="1600" dirty="0" err="1"/>
              <a:t>drop_first</a:t>
            </a:r>
            <a:r>
              <a:rPr lang="en-IN" sz="1600" dirty="0"/>
              <a:t>=True) — One-Hot Encoding → </a:t>
            </a:r>
            <a:r>
              <a:rPr lang="en-IN" sz="1600" b="1" dirty="0"/>
              <a:t>51 features</a:t>
            </a:r>
            <a:endParaRPr lang="en-IN" sz="1600" dirty="0"/>
          </a:p>
          <a:p>
            <a:r>
              <a:rPr lang="en-IN" sz="1600" dirty="0"/>
              <a:t>Train/test alignment with </a:t>
            </a:r>
            <a:r>
              <a:rPr lang="en-IN" sz="1600" dirty="0" err="1"/>
              <a:t>fill_value</a:t>
            </a:r>
            <a:r>
              <a:rPr lang="en-IN" sz="1600" dirty="0"/>
              <a:t>=0 to prevent column mismatch</a:t>
            </a:r>
          </a:p>
          <a:p>
            <a:pPr marL="165100" indent="0">
              <a:buNone/>
            </a:pPr>
            <a:r>
              <a:rPr lang="en-IN" sz="1600" b="1" dirty="0"/>
              <a:t>Scaling</a:t>
            </a:r>
          </a:p>
          <a:p>
            <a:r>
              <a:rPr lang="en-IN" sz="1600" dirty="0" err="1"/>
              <a:t>StandardScaler</a:t>
            </a:r>
            <a:r>
              <a:rPr lang="en-IN" sz="1600" dirty="0"/>
              <a:t> — fit </a:t>
            </a:r>
            <a:r>
              <a:rPr lang="en-IN" sz="1600" b="1" dirty="0"/>
              <a:t>only on </a:t>
            </a:r>
            <a:r>
              <a:rPr lang="en-IN" sz="1600" b="1" dirty="0" err="1"/>
              <a:t>X_train</a:t>
            </a:r>
            <a:r>
              <a:rPr lang="en-IN" sz="1600" dirty="0"/>
              <a:t>, transform applied to </a:t>
            </a:r>
            <a:r>
              <a:rPr lang="en-IN" sz="1600" dirty="0" err="1"/>
              <a:t>X_test</a:t>
            </a:r>
            <a:endParaRPr lang="en-IN" sz="1600" dirty="0"/>
          </a:p>
          <a:p>
            <a:r>
              <a:rPr lang="en-IN" sz="1600" dirty="0"/>
              <a:t>Prevents data leakage; required for Logistic Regression</a:t>
            </a:r>
          </a:p>
          <a:p>
            <a:pPr marL="165100" indent="0">
              <a:buNone/>
            </a:pPr>
            <a:r>
              <a:rPr lang="en-IN" sz="1600" b="1" dirty="0"/>
              <a:t>Feature Selection — L1 Lasso</a:t>
            </a:r>
          </a:p>
          <a:p>
            <a:r>
              <a:rPr lang="en-IN" sz="1600" dirty="0" err="1"/>
              <a:t>LogisticRegression</a:t>
            </a:r>
            <a:r>
              <a:rPr lang="en-IN" sz="1600" dirty="0"/>
              <a:t>(penalty='l1', C=0.1, solver='</a:t>
            </a:r>
            <a:r>
              <a:rPr lang="en-IN" sz="1600" dirty="0" err="1"/>
              <a:t>liblinear</a:t>
            </a:r>
            <a:r>
              <a:rPr lang="en-IN" sz="1600" dirty="0"/>
              <a:t>')</a:t>
            </a:r>
          </a:p>
          <a:p>
            <a:r>
              <a:rPr lang="en-IN" sz="1600" dirty="0"/>
              <a:t>L1 drives irrelevant feature coefficients to exactly </a:t>
            </a:r>
            <a:r>
              <a:rPr lang="en-IN" sz="1600" b="1" dirty="0"/>
              <a:t>zero</a:t>
            </a:r>
            <a:endParaRPr lang="en-IN" sz="1600" dirty="0"/>
          </a:p>
          <a:p>
            <a:r>
              <a:rPr lang="en-IN" sz="1600" dirty="0"/>
              <a:t>Result: </a:t>
            </a:r>
            <a:r>
              <a:rPr lang="en-IN" sz="1600" b="1" dirty="0"/>
              <a:t>32 features selected</a:t>
            </a:r>
            <a:r>
              <a:rPr lang="en-IN" sz="1600" dirty="0"/>
              <a:t>, 19 eliminated</a:t>
            </a:r>
          </a:p>
          <a:p>
            <a:r>
              <a:rPr lang="en-IN" sz="1600" dirty="0"/>
              <a:t>Top selected features: contract type, tenure, monthly charges, electronic payment, </a:t>
            </a:r>
            <a:r>
              <a:rPr lang="en-IN" sz="1600" dirty="0" err="1"/>
              <a:t>fiber</a:t>
            </a:r>
            <a:r>
              <a:rPr lang="en-IN" sz="1600" dirty="0"/>
              <a:t> optic, engagement score</a:t>
            </a:r>
          </a:p>
          <a:p>
            <a:pPr marL="165100" indent="0">
              <a:buNone/>
            </a:pPr>
            <a:endParaRPr lang="en-IN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08A54A-F80D-C13D-549F-3FEB9B435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824" y="411675"/>
            <a:ext cx="6227839" cy="577800"/>
          </a:xfrm>
        </p:spPr>
        <p:txBody>
          <a:bodyPr/>
          <a:lstStyle/>
          <a:p>
            <a:r>
              <a:rPr lang="en-IN" dirty="0"/>
              <a:t>Encoding, Scaling &amp; Feature Selection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F749C-11C7-8ADD-2D46-C7B8F726BDD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6510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2960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00436F-77C1-C875-3B39-4D4F896C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8825" y="1017687"/>
            <a:ext cx="6838737" cy="1838867"/>
          </a:xfrm>
        </p:spPr>
        <p:txBody>
          <a:bodyPr/>
          <a:lstStyle/>
          <a:p>
            <a:pPr marL="165100" indent="0">
              <a:buNone/>
            </a:pPr>
            <a:r>
              <a:rPr lang="en-US" sz="1400" b="1" dirty="0"/>
              <a:t>Problem</a:t>
            </a:r>
          </a:p>
          <a:p>
            <a:r>
              <a:rPr lang="en-US" sz="1400" dirty="0"/>
              <a:t>Train set: </a:t>
            </a:r>
            <a:r>
              <a:rPr lang="en-US" sz="1400" b="1" dirty="0"/>
              <a:t>4,139 No Churn vs 1,495 Churn</a:t>
            </a:r>
            <a:r>
              <a:rPr lang="en-US" sz="1400" dirty="0"/>
              <a:t> (2.77:1 ratio)</a:t>
            </a:r>
          </a:p>
          <a:p>
            <a:r>
              <a:rPr lang="en-US" sz="1400" dirty="0"/>
              <a:t>Models biased toward predicting majority class → poor recall on churners</a:t>
            </a:r>
          </a:p>
          <a:p>
            <a:pPr marL="165100" indent="0">
              <a:buNone/>
            </a:pPr>
            <a:r>
              <a:rPr lang="en-US" sz="1400" b="1" dirty="0"/>
              <a:t>Solution: SMOTE (Synthetic Minority Oversampling)</a:t>
            </a:r>
          </a:p>
          <a:p>
            <a:r>
              <a:rPr lang="en-US" sz="1400" dirty="0"/>
              <a:t>Generates </a:t>
            </a:r>
            <a:r>
              <a:rPr lang="en-US" sz="1400" b="1" dirty="0"/>
              <a:t>synthetic minority samples</a:t>
            </a:r>
            <a:r>
              <a:rPr lang="en-US" sz="1400" dirty="0"/>
              <a:t> by interpolating between real ones</a:t>
            </a:r>
          </a:p>
          <a:p>
            <a:r>
              <a:rPr lang="en-US" sz="1400" dirty="0"/>
              <a:t>Applied </a:t>
            </a:r>
            <a:r>
              <a:rPr lang="en-US" sz="1400" b="1" dirty="0"/>
              <a:t>only on training data</a:t>
            </a:r>
            <a:r>
              <a:rPr lang="en-US" sz="1400" dirty="0"/>
              <a:t> — never on test set (no leakage)</a:t>
            </a:r>
          </a:p>
          <a:p>
            <a:pPr marL="165100" indent="0">
              <a:buNone/>
            </a:pPr>
            <a:endParaRPr lang="en-IN" sz="1400" dirty="0"/>
          </a:p>
          <a:p>
            <a:pPr marL="165100" indent="0">
              <a:buNone/>
            </a:pPr>
            <a:r>
              <a:rPr lang="en-IN" sz="1400" dirty="0"/>
              <a:t>Result</a:t>
            </a:r>
          </a:p>
          <a:p>
            <a:pPr marL="165100" indent="0">
              <a:buNone/>
            </a:pPr>
            <a:endParaRPr lang="en-IN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AB499B-6AE8-2639-06DA-D246947A06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Class Imbalance — SMOTE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6853E-2036-6EE2-6212-653237305B6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83735" y="1063525"/>
            <a:ext cx="815089" cy="3786900"/>
          </a:xfrm>
        </p:spPr>
        <p:txBody>
          <a:bodyPr/>
          <a:lstStyle/>
          <a:p>
            <a:pPr marL="165100" indent="0">
              <a:buNone/>
            </a:pPr>
            <a:r>
              <a:rPr lang="en-IN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BDEFF7-4721-A50A-CFD1-439F0AFF8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455226"/>
              </p:ext>
            </p:extLst>
          </p:nvPr>
        </p:nvGraphicFramePr>
        <p:xfrm>
          <a:off x="1687735" y="3041125"/>
          <a:ext cx="6096000" cy="148336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5972833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925263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13766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Before SMOTE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After SMOTE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1735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Churn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4,139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4,139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4931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1,495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4,139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494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5,634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8,278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9975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443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0A92BB-56DA-14E1-BA48-C96C98662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375" y="1063525"/>
            <a:ext cx="6264404" cy="1218696"/>
          </a:xfrm>
        </p:spPr>
        <p:txBody>
          <a:bodyPr/>
          <a:lstStyle/>
          <a:p>
            <a:r>
              <a:rPr lang="en-IN" sz="1400" dirty="0"/>
              <a:t>Strategy: </a:t>
            </a:r>
            <a:r>
              <a:rPr lang="en-IN" sz="1400" dirty="0" err="1"/>
              <a:t>StratifiedKFold</a:t>
            </a:r>
            <a:r>
              <a:rPr lang="en-IN" sz="1400" dirty="0"/>
              <a:t> (n=5, shuffle=True) on SMOTE-balanced data</a:t>
            </a:r>
          </a:p>
          <a:p>
            <a:r>
              <a:rPr lang="en-IN" sz="1400" dirty="0"/>
              <a:t>4 Models evaluated: Logistic Regression, Decision Tree, Random Forest, </a:t>
            </a:r>
            <a:r>
              <a:rPr lang="en-IN" sz="1400" dirty="0" err="1"/>
              <a:t>XGBoost</a:t>
            </a:r>
            <a:endParaRPr lang="en-IN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17CD3D-5665-A3D7-E375-A4868A58A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824" y="411675"/>
            <a:ext cx="6666147" cy="577800"/>
          </a:xfrm>
        </p:spPr>
        <p:txBody>
          <a:bodyPr/>
          <a:lstStyle/>
          <a:p>
            <a:r>
              <a:rPr lang="en-IN" dirty="0"/>
              <a:t>Model Training — 5-Fold Cross-Validation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DD92D9-B09B-78BD-E932-8C4E3257792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55787" y="1063525"/>
            <a:ext cx="671507" cy="3786900"/>
          </a:xfrm>
        </p:spPr>
        <p:txBody>
          <a:bodyPr/>
          <a:lstStyle/>
          <a:p>
            <a:pPr marL="16510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411C4BD-68DF-A4C5-1E60-3C088D52DA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2915" y="1896813"/>
            <a:ext cx="5978263" cy="309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04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76DEFF-C119-3FD8-2699-374DBB52C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616" y="869250"/>
            <a:ext cx="6309746" cy="999543"/>
          </a:xfrm>
        </p:spPr>
        <p:txBody>
          <a:bodyPr/>
          <a:lstStyle/>
          <a:p>
            <a:r>
              <a:rPr lang="en-US" sz="1400" dirty="0"/>
              <a:t>Why Randomized? Samples </a:t>
            </a:r>
            <a:r>
              <a:rPr lang="en-US" sz="1400" dirty="0" err="1"/>
              <a:t>n_iter</a:t>
            </a:r>
            <a:r>
              <a:rPr lang="en-US" sz="1400" dirty="0"/>
              <a:t> combinations from distributions — faster than </a:t>
            </a:r>
            <a:r>
              <a:rPr lang="en-US" sz="1400" dirty="0" err="1"/>
              <a:t>GridSearch</a:t>
            </a:r>
            <a:r>
              <a:rPr lang="en-US" sz="1400" dirty="0"/>
              <a:t> with near-equal results</a:t>
            </a:r>
          </a:p>
          <a:p>
            <a:r>
              <a:rPr lang="en-US" sz="1400" dirty="0"/>
              <a:t>Scoring: </a:t>
            </a:r>
            <a:r>
              <a:rPr lang="en-US" sz="1400" dirty="0" err="1"/>
              <a:t>roc_auc</a:t>
            </a:r>
            <a:r>
              <a:rPr lang="en-US" sz="1400" dirty="0"/>
              <a:t> | CV: 5-fold stratified</a:t>
            </a:r>
            <a:endParaRPr lang="en-IN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10103A-D142-0F3B-86ED-B4CBBBDCC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469" y="291450"/>
            <a:ext cx="7368950" cy="577800"/>
          </a:xfrm>
        </p:spPr>
        <p:txBody>
          <a:bodyPr/>
          <a:lstStyle/>
          <a:p>
            <a:r>
              <a:rPr lang="en-IN" dirty="0"/>
              <a:t>Hyperparameter Tuning — </a:t>
            </a:r>
            <a:r>
              <a:rPr lang="en-IN" dirty="0" err="1"/>
              <a:t>RandomizedSearchCV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47C4E-2E86-5DD3-0FB3-E91F63817F1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020199" y="4461551"/>
            <a:ext cx="7572138" cy="577800"/>
          </a:xfrm>
        </p:spPr>
        <p:txBody>
          <a:bodyPr/>
          <a:lstStyle/>
          <a:p>
            <a:pPr marL="165100" indent="0">
              <a:buNone/>
            </a:pPr>
            <a:r>
              <a:rPr lang="en-IN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98F3E8-6747-B491-5F7F-A719C36A1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636258"/>
              </p:ext>
            </p:extLst>
          </p:nvPr>
        </p:nvGraphicFramePr>
        <p:xfrm>
          <a:off x="1141944" y="1788050"/>
          <a:ext cx="6928959" cy="2957763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2309653">
                  <a:extLst>
                    <a:ext uri="{9D8B030D-6E8A-4147-A177-3AD203B41FA5}">
                      <a16:colId xmlns:a16="http://schemas.microsoft.com/office/drawing/2014/main" val="3969316742"/>
                    </a:ext>
                  </a:extLst>
                </a:gridCol>
                <a:gridCol w="2309653">
                  <a:extLst>
                    <a:ext uri="{9D8B030D-6E8A-4147-A177-3AD203B41FA5}">
                      <a16:colId xmlns:a16="http://schemas.microsoft.com/office/drawing/2014/main" val="1075906516"/>
                    </a:ext>
                  </a:extLst>
                </a:gridCol>
                <a:gridCol w="2309653">
                  <a:extLst>
                    <a:ext uri="{9D8B030D-6E8A-4147-A177-3AD203B41FA5}">
                      <a16:colId xmlns:a16="http://schemas.microsoft.com/office/drawing/2014/main" val="3231085271"/>
                    </a:ext>
                  </a:extLst>
                </a:gridCol>
              </a:tblGrid>
              <a:tr h="425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Best 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CV 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347487"/>
                  </a:ext>
                </a:extLst>
              </a:tr>
              <a:tr h="489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C=0.599, penalty=l1, solver=liblinear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0.8484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7667727"/>
                  </a:ext>
                </a:extLst>
              </a:tr>
              <a:tr h="681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criterion=entropy, max_depth=15, min_samples_leaf=9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0.8821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587420"/>
                  </a:ext>
                </a:extLst>
              </a:tr>
              <a:tr h="681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n_estimators=330, max_depth=20, max_features=sqrt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0.9188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6421269"/>
                  </a:ext>
                </a:extLst>
              </a:tr>
              <a:tr h="681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n_estimators=274, max_depth=8, lr=0.12, subsample=0.993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505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808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6B4AB2-E8DB-8C2C-BD99-3A28F1401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5100" indent="0">
              <a:buNone/>
            </a:pPr>
            <a:r>
              <a:rPr lang="en-IN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B271AC-FC82-19DA-4C28-54382DBAC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696" y="192522"/>
            <a:ext cx="6462107" cy="577800"/>
          </a:xfrm>
        </p:spPr>
        <p:txBody>
          <a:bodyPr/>
          <a:lstStyle/>
          <a:p>
            <a:r>
              <a:rPr lang="en-US" dirty="0"/>
              <a:t>Model Comparison — Test Set Results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518E14-1718-84CA-A399-A7C38884C9D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6542" y="2155106"/>
            <a:ext cx="2438466" cy="1336240"/>
          </a:xfrm>
        </p:spPr>
        <p:txBody>
          <a:bodyPr/>
          <a:lstStyle/>
          <a:p>
            <a:pPr marL="165100" indent="0">
              <a:buNone/>
            </a:pPr>
            <a:r>
              <a:rPr lang="en-US" sz="1400" dirty="0"/>
              <a:t>🏆 </a:t>
            </a:r>
            <a:r>
              <a:rPr lang="en-US" sz="1400" b="1" dirty="0"/>
              <a:t>Logistic Regression wins</a:t>
            </a:r>
            <a:r>
              <a:rPr lang="en-US" sz="1400" dirty="0"/>
              <a:t> — highest ROC-AUC (0.8392) and highest Recall (0.7968)</a:t>
            </a:r>
            <a:endParaRPr lang="en-IN" sz="14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264589A-9552-B929-1134-A7CD70FADB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260" y="488511"/>
            <a:ext cx="5244575" cy="466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407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3EF8D9-6FAA-55E0-9F8A-81F78B705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403" y="957727"/>
            <a:ext cx="4798341" cy="379867"/>
          </a:xfrm>
        </p:spPr>
        <p:txBody>
          <a:bodyPr/>
          <a:lstStyle/>
          <a:p>
            <a:pPr marL="165100" indent="0">
              <a:buNone/>
            </a:pPr>
            <a:r>
              <a:rPr lang="en-US" sz="1400" dirty="0" err="1"/>
              <a:t>XGBoost</a:t>
            </a:r>
            <a:r>
              <a:rPr lang="en-US" sz="1400" dirty="0"/>
              <a:t> had the best CV AUC (0.9335) — so why did</a:t>
            </a:r>
          </a:p>
          <a:p>
            <a:pPr marL="165100" indent="0">
              <a:buNone/>
            </a:pPr>
            <a:r>
              <a:rPr lang="en-US" sz="1400" dirty="0"/>
              <a:t> LR win on test data?</a:t>
            </a:r>
            <a:endParaRPr lang="en-IN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306B43-25A6-29DD-D53B-2DB9B09603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342" y="228361"/>
            <a:ext cx="4727700" cy="577800"/>
          </a:xfrm>
        </p:spPr>
        <p:txBody>
          <a:bodyPr/>
          <a:lstStyle/>
          <a:p>
            <a:r>
              <a:rPr lang="en-IN" dirty="0"/>
              <a:t>Why Logistic Regression Won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6B18C-6B9D-643E-B88F-89CE46BF0C6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02037" y="984176"/>
            <a:ext cx="2394506" cy="326968"/>
          </a:xfrm>
        </p:spPr>
        <p:txBody>
          <a:bodyPr/>
          <a:lstStyle/>
          <a:p>
            <a:pPr marL="165100" indent="0">
              <a:buNone/>
            </a:pPr>
            <a:r>
              <a:rPr lang="en-IN" sz="1400" dirty="0"/>
              <a:t>Model Verdict Summary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8F2382-1CBC-6BF8-7C84-EE4C7DC66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071167"/>
              </p:ext>
            </p:extLst>
          </p:nvPr>
        </p:nvGraphicFramePr>
        <p:xfrm>
          <a:off x="360403" y="1733760"/>
          <a:ext cx="4589448" cy="293116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2294724">
                  <a:extLst>
                    <a:ext uri="{9D8B030D-6E8A-4147-A177-3AD203B41FA5}">
                      <a16:colId xmlns:a16="http://schemas.microsoft.com/office/drawing/2014/main" val="4103119007"/>
                    </a:ext>
                  </a:extLst>
                </a:gridCol>
                <a:gridCol w="2294724">
                  <a:extLst>
                    <a:ext uri="{9D8B030D-6E8A-4147-A177-3AD203B41FA5}">
                      <a16:colId xmlns:a16="http://schemas.microsoft.com/office/drawing/2014/main" val="126630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Reason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2914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Recall is critical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LR Recall = 0.797 vs </a:t>
                      </a:r>
                      <a:r>
                        <a:rPr lang="en-US" sz="1200" dirty="0" err="1"/>
                        <a:t>XGBoost</a:t>
                      </a:r>
                      <a:r>
                        <a:rPr lang="en-US" sz="1200" dirty="0"/>
                        <a:t> = 0.612 — LR catches far more churners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4653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SMOTE distribution shift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XGBoost</a:t>
                      </a:r>
                      <a:r>
                        <a:rPr lang="en-US" sz="1200" dirty="0"/>
                        <a:t> overfits to synthetic samples; LR's linear boundary generalizes better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211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ROC-AUC on real data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LR 0.839 &gt; XGBoost 0.832 — LR is a better rank-ordering model here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0723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Feature selection alignment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L1 selection was designed for LR's assumptions — features fit LR naturally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198574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571E07-7259-33E2-AE00-8793471B2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904363"/>
              </p:ext>
            </p:extLst>
          </p:nvPr>
        </p:nvGraphicFramePr>
        <p:xfrm>
          <a:off x="5234559" y="1727826"/>
          <a:ext cx="3729462" cy="2937094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1864731">
                  <a:extLst>
                    <a:ext uri="{9D8B030D-6E8A-4147-A177-3AD203B41FA5}">
                      <a16:colId xmlns:a16="http://schemas.microsoft.com/office/drawing/2014/main" val="3554339615"/>
                    </a:ext>
                  </a:extLst>
                </a:gridCol>
                <a:gridCol w="1864731">
                  <a:extLst>
                    <a:ext uri="{9D8B030D-6E8A-4147-A177-3AD203B41FA5}">
                      <a16:colId xmlns:a16="http://schemas.microsoft.com/office/drawing/2014/main" val="625235610"/>
                    </a:ext>
                  </a:extLst>
                </a:gridCol>
              </a:tblGrid>
              <a:tr h="514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Verdict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748900"/>
                  </a:ext>
                </a:extLst>
              </a:tr>
              <a:tr h="63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Logistic Regression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✅ Best recall + AUC on real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4799426"/>
                  </a:ext>
                </a:extLst>
              </a:tr>
              <a:tr h="63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Overfit to SMOTE distribution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222352"/>
                  </a:ext>
                </a:extLst>
              </a:tr>
              <a:tr h="634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⚠️ Lower recall — misses too many churners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7356611"/>
                  </a:ext>
                </a:extLst>
              </a:tr>
              <a:tr h="514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❌ Weakest overall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8205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0855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3C28BD-AF19-932C-B80C-A70A5BEF5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101" y="59760"/>
            <a:ext cx="6688818" cy="577800"/>
          </a:xfrm>
        </p:spPr>
        <p:txBody>
          <a:bodyPr/>
          <a:lstStyle/>
          <a:p>
            <a:r>
              <a:rPr lang="en-IN" dirty="0"/>
              <a:t>Threshold Tuning &amp; Business Cost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8B40C-233A-234A-12F0-E613B6EB5EA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3573" y="1063525"/>
            <a:ext cx="505251" cy="3786900"/>
          </a:xfrm>
        </p:spPr>
        <p:txBody>
          <a:bodyPr/>
          <a:lstStyle/>
          <a:p>
            <a:pPr marL="165100" indent="0">
              <a:buNone/>
            </a:pPr>
            <a:r>
              <a:rPr lang="en-IN" dirty="0"/>
              <a:t>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269EF0-A6F9-18BA-8B5D-893DF89D6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162" y="516648"/>
            <a:ext cx="3908700" cy="1400065"/>
          </a:xfrm>
        </p:spPr>
        <p:txBody>
          <a:bodyPr/>
          <a:lstStyle/>
          <a:p>
            <a:pPr marL="165100" indent="0">
              <a:buNone/>
            </a:pPr>
            <a:r>
              <a:rPr lang="en-US" b="1" dirty="0"/>
              <a:t>Business Cost Model</a:t>
            </a:r>
          </a:p>
          <a:p>
            <a:r>
              <a:rPr lang="en-US" b="1" dirty="0"/>
              <a:t>FP Cost = $100</a:t>
            </a:r>
            <a:r>
              <a:rPr lang="en-US" dirty="0"/>
              <a:t> (retention offer sent to non-churner)</a:t>
            </a:r>
          </a:p>
          <a:p>
            <a:r>
              <a:rPr lang="en-US" b="1" dirty="0"/>
              <a:t>FN Cost = $500</a:t>
            </a:r>
            <a:r>
              <a:rPr lang="en-US" dirty="0"/>
              <a:t> (missed churner = lost customer)</a:t>
            </a:r>
          </a:p>
          <a:p>
            <a:r>
              <a:rPr lang="en-US" dirty="0"/>
              <a:t>Total Cost = FP × $100 + FN × $500</a:t>
            </a:r>
          </a:p>
          <a:p>
            <a:endParaRPr lang="en-IN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F5F75AC-A4EA-558D-16F8-FAA2CEB67B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3599" y="1380732"/>
            <a:ext cx="7492599" cy="390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36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D48C4E-D84F-07E2-B16D-849B9E396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3300" y="677622"/>
            <a:ext cx="3908700" cy="1508225"/>
          </a:xfrm>
        </p:spPr>
        <p:txBody>
          <a:bodyPr/>
          <a:lstStyle/>
          <a:p>
            <a:pPr marL="165100" indent="0">
              <a:buNone/>
            </a:pPr>
            <a:r>
              <a:rPr lang="en-US" b="1" dirty="0"/>
              <a:t>Why SHAP?</a:t>
            </a:r>
          </a:p>
          <a:p>
            <a:r>
              <a:rPr lang="en-US" dirty="0"/>
              <a:t>Quantifies each feature's contribution to </a:t>
            </a:r>
            <a:r>
              <a:rPr lang="en-US" b="1" dirty="0"/>
              <a:t>every individual prediction</a:t>
            </a:r>
            <a:endParaRPr lang="en-US" dirty="0"/>
          </a:p>
          <a:p>
            <a:r>
              <a:rPr lang="en-US" dirty="0"/>
              <a:t>Based on game theory — guarantees fair, consistent attribution</a:t>
            </a:r>
          </a:p>
          <a:p>
            <a:r>
              <a:rPr lang="en-US" dirty="0"/>
              <a:t>Makes the model explainable to both technical and business stakeholders</a:t>
            </a:r>
          </a:p>
          <a:p>
            <a:endParaRPr lang="en-US" dirty="0"/>
          </a:p>
          <a:p>
            <a:pPr marL="165100" indent="0">
              <a:buNone/>
            </a:pPr>
            <a:r>
              <a:rPr lang="en-US" dirty="0"/>
              <a:t>Top SHAP Features &amp; Their Impact</a:t>
            </a:r>
          </a:p>
          <a:p>
            <a:pPr marL="1651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6CA350-605B-0B1C-28F5-EEE8D024E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300" y="215192"/>
            <a:ext cx="4727700" cy="577800"/>
          </a:xfrm>
        </p:spPr>
        <p:txBody>
          <a:bodyPr/>
          <a:lstStyle/>
          <a:p>
            <a:r>
              <a:rPr lang="en-IN" dirty="0"/>
              <a:t>SHAP Interpretability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10256-56E5-756F-CB04-120AB321B4D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473897" y="1063525"/>
            <a:ext cx="1124927" cy="3786900"/>
          </a:xfrm>
        </p:spPr>
        <p:txBody>
          <a:bodyPr/>
          <a:lstStyle/>
          <a:p>
            <a:pPr marL="165100" indent="0">
              <a:buNone/>
            </a:pPr>
            <a:r>
              <a:rPr lang="en-IN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79D139-510B-5164-6269-0F6100860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913888"/>
              </p:ext>
            </p:extLst>
          </p:nvPr>
        </p:nvGraphicFramePr>
        <p:xfrm>
          <a:off x="1614684" y="2571750"/>
          <a:ext cx="6096000" cy="244856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1478358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491918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297448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Direction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Insight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327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ContractType (low)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↑ Churn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Month-to-month = #1 churn driver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6419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tenure (low)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↑ Churn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New customers = highest vulnerability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918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MonthlyCharges (high)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↑ Churn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High bills push customers to leave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5736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ElectronicPayment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↑ Churn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Strongest payment risk signal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883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FiberOpticUser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↑ Churn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Premium price without perceived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911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443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D8B775-EA2A-CF92-C47D-739E00D60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5100" indent="0">
              <a:buNone/>
            </a:pPr>
            <a:r>
              <a:rPr lang="en-IN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FA06A1-3C4F-F72A-9843-9E2012977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825" y="411675"/>
            <a:ext cx="6144712" cy="577800"/>
          </a:xfrm>
        </p:spPr>
        <p:txBody>
          <a:bodyPr/>
          <a:lstStyle/>
          <a:p>
            <a:r>
              <a:rPr lang="en-IN" dirty="0"/>
              <a:t>Final Results &amp; Key Takeaways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04027-CA4B-1E58-4A54-7B63218AD4A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6510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80173CB-F7C0-E50A-C544-DD254AB613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1865" y="761031"/>
            <a:ext cx="6740269" cy="418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467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4E2880-7306-206F-379F-CD1187981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3300" y="989475"/>
            <a:ext cx="3908700" cy="379867"/>
          </a:xfrm>
        </p:spPr>
        <p:txBody>
          <a:bodyPr/>
          <a:lstStyle/>
          <a:p>
            <a:pPr marL="165100" indent="0">
              <a:buNone/>
            </a:pPr>
            <a:r>
              <a:rPr lang="en-IN" sz="1400" dirty="0"/>
              <a:t>Top Retention Recommendations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8E400B-79D6-A737-1BA1-F53C2E914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824" y="411675"/>
            <a:ext cx="6212725" cy="577800"/>
          </a:xfrm>
        </p:spPr>
        <p:txBody>
          <a:bodyPr/>
          <a:lstStyle/>
          <a:p>
            <a:r>
              <a:rPr lang="en-IN" dirty="0"/>
              <a:t>Final Results &amp; Key Takeaways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1D0D6-1D98-34BF-E310-6FCD751C54D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17916" y="3571125"/>
            <a:ext cx="7880907" cy="1475782"/>
          </a:xfrm>
        </p:spPr>
        <p:txBody>
          <a:bodyPr/>
          <a:lstStyle/>
          <a:p>
            <a:pPr marL="165100" indent="0">
              <a:buNone/>
            </a:pPr>
            <a:r>
              <a:rPr lang="en-US" sz="1400" b="1" dirty="0"/>
              <a:t>Saved Artifacts</a:t>
            </a:r>
          </a:p>
          <a:p>
            <a:r>
              <a:rPr lang="en-US" sz="1400" dirty="0" err="1"/>
              <a:t>best_churn_model.pkl</a:t>
            </a:r>
            <a:r>
              <a:rPr lang="en-US" sz="1400" dirty="0"/>
              <a:t> · </a:t>
            </a:r>
            <a:r>
              <a:rPr lang="en-US" sz="1400" dirty="0" err="1"/>
              <a:t>scaler.pkl</a:t>
            </a:r>
            <a:r>
              <a:rPr lang="en-US" sz="1400" dirty="0"/>
              <a:t> · </a:t>
            </a:r>
            <a:r>
              <a:rPr lang="en-US" sz="1400" dirty="0" err="1"/>
              <a:t>selected_features.pkl</a:t>
            </a:r>
            <a:r>
              <a:rPr lang="en-US" sz="1400" dirty="0"/>
              <a:t> · </a:t>
            </a:r>
            <a:r>
              <a:rPr lang="en-US" sz="1400" dirty="0" err="1"/>
              <a:t>optimal_threshold.pkl</a:t>
            </a:r>
            <a:endParaRPr lang="en-US" sz="1400" dirty="0"/>
          </a:p>
          <a:p>
            <a:r>
              <a:rPr lang="en-US" sz="1400" b="1" dirty="0"/>
              <a:t>"The goal isn't just to predict who will churn — it's to predict it early enough to act."</a:t>
            </a:r>
            <a:endParaRPr lang="en-US" sz="1400" dirty="0"/>
          </a:p>
          <a:p>
            <a:r>
              <a:rPr lang="en-US" sz="1400" dirty="0"/>
              <a:t>Python · Scikit-learn · </a:t>
            </a:r>
            <a:r>
              <a:rPr lang="en-US" sz="1400" dirty="0" err="1"/>
              <a:t>XGBoost</a:t>
            </a:r>
            <a:r>
              <a:rPr lang="en-US" sz="1400" dirty="0"/>
              <a:t> · SMOTE · SHAP · Pandas · Seaborn</a:t>
            </a:r>
          </a:p>
          <a:p>
            <a:pPr marL="165100" indent="0">
              <a:buNone/>
            </a:pPr>
            <a:endParaRPr lang="en-IN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8B5B57D-5483-5CEB-DA58-C2A9C3AA2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905542"/>
              </p:ext>
            </p:extLst>
          </p:nvPr>
        </p:nvGraphicFramePr>
        <p:xfrm>
          <a:off x="1085693" y="1423923"/>
          <a:ext cx="5896998" cy="195072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2948499">
                  <a:extLst>
                    <a:ext uri="{9D8B030D-6E8A-4147-A177-3AD203B41FA5}">
                      <a16:colId xmlns:a16="http://schemas.microsoft.com/office/drawing/2014/main" val="890650428"/>
                    </a:ext>
                  </a:extLst>
                </a:gridCol>
                <a:gridCol w="2948499">
                  <a:extLst>
                    <a:ext uri="{9D8B030D-6E8A-4147-A177-3AD203B41FA5}">
                      <a16:colId xmlns:a16="http://schemas.microsoft.com/office/drawing/2014/main" val="1079257391"/>
                    </a:ext>
                  </a:extLst>
                </a:gridCol>
              </a:tblGrid>
              <a:tr h="272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Risk Signal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Recommended 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129533"/>
                  </a:ext>
                </a:extLst>
              </a:tr>
              <a:tr h="272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Month-to-month + New + Fiber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Priority outreach in first 3 months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071507"/>
                  </a:ext>
                </a:extLst>
              </a:tr>
              <a:tr h="272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Electronic check 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Migrate to auto-pay with discount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428569"/>
                  </a:ext>
                </a:extLst>
              </a:tr>
              <a:tr h="398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add-on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Bundle offer: security + tech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301918"/>
                  </a:ext>
                </a:extLst>
              </a:tr>
              <a:tr h="398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MonthlyCharges &gt; $70 + short tenure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Loyalty discount or plan downgrade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8025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288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27C570-4ED9-0454-3DC4-3F8DE9B30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5100" indent="0">
              <a:buNone/>
            </a:pPr>
            <a:r>
              <a:rPr lang="en-IN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E510BD-2D85-B254-ACB1-4DC2A23234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98775-5F14-0ED0-B0EE-FA96250D7D0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6510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6AA59-420B-AB58-E3F7-AF9D513A8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85" y="232619"/>
            <a:ext cx="8706830" cy="461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664510"/>
      </p:ext>
    </p:extLst>
  </p:cSld>
  <p:clrMapOvr>
    <a:masterClrMapping/>
  </p:clrMapOvr>
</p:sld>
</file>

<file path=ppt/theme/theme1.xml><?xml version="1.0" encoding="utf-8"?>
<a:theme xmlns:a="http://schemas.openxmlformats.org/drawingml/2006/main" name="Data Science Consulting by Slidesgo">
  <a:themeElements>
    <a:clrScheme name="Simple Light">
      <a:dk1>
        <a:srgbClr val="1A5E8F"/>
      </a:dk1>
      <a:lt1>
        <a:srgbClr val="FFFFFF"/>
      </a:lt1>
      <a:dk2>
        <a:srgbClr val="002845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1213</Words>
  <Application>Microsoft Office PowerPoint</Application>
  <PresentationFormat>On-screen Show (16:9)</PresentationFormat>
  <Paragraphs>250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Nunito Light</vt:lpstr>
      <vt:lpstr>Arial</vt:lpstr>
      <vt:lpstr>Maven Pro</vt:lpstr>
      <vt:lpstr>Livvic Light</vt:lpstr>
      <vt:lpstr>Share Tech</vt:lpstr>
      <vt:lpstr>Data Science Consulting by Slidesgo</vt:lpstr>
      <vt:lpstr>Telecom Customer Churn Prediction</vt:lpstr>
      <vt:lpstr>Agenda</vt:lpstr>
      <vt:lpstr>Problem Statement &amp; Objective</vt:lpstr>
      <vt:lpstr>Dataset Overview</vt:lpstr>
      <vt:lpstr>Data Cleaning</vt:lpstr>
      <vt:lpstr>Exploratory Data Analysis</vt:lpstr>
      <vt:lpstr> </vt:lpstr>
      <vt:lpstr>Feature Engineering</vt:lpstr>
      <vt:lpstr>ML Pipeline Architecture</vt:lpstr>
      <vt:lpstr>Encoding, Scaling &amp; Feature Selection</vt:lpstr>
      <vt:lpstr>Class Imbalance — SMOTE</vt:lpstr>
      <vt:lpstr>Model Training — 5-Fold Cross-Validation</vt:lpstr>
      <vt:lpstr>Hyperparameter Tuning — RandomizedSearchCV</vt:lpstr>
      <vt:lpstr>Model Comparison — Test Set Results</vt:lpstr>
      <vt:lpstr>Why Logistic Regression Won</vt:lpstr>
      <vt:lpstr>Threshold Tuning &amp; Business Cost</vt:lpstr>
      <vt:lpstr>SHAP Interpretability</vt:lpstr>
      <vt:lpstr>Final Results &amp; Key Takeaways</vt:lpstr>
      <vt:lpstr>Final Results &amp; Key Takeaways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Pavan</dc:creator>
  <cp:lastModifiedBy>Pavan Kumar</cp:lastModifiedBy>
  <cp:revision>1</cp:revision>
  <dcterms:modified xsi:type="dcterms:W3CDTF">2026-04-07T12:36:39Z</dcterms:modified>
</cp:coreProperties>
</file>